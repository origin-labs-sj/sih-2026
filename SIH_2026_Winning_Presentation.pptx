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🏆 SMART INDIA HACKATHON 2026 // GRAND FINALE</a:t>
            </a:r>
          </a:p>
          <a:p>
            <a:pPr>
              <a:spcAft>
                <a:spcPts val="800"/>
              </a:spcAft>
              <a:defRPr sz="4000" b="1">
                <a:solidFill>
                  <a:srgbClr val="38BDF8"/>
                </a:solidFill>
              </a:defRPr>
            </a:pPr>
            <a:r>
              <a:t>SAHAYAK (सहायक)</a:t>
            </a:r>
          </a:p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</a:defRPr>
            </a:pPr>
            <a:r>
              <a:t>Business Advisory &amp; Financial Structuring Assistant</a:t>
            </a:r>
          </a:p>
          <a:p>
            <a:pPr>
              <a:spcAft>
                <a:spcPts val="2000"/>
              </a:spcAft>
              <a:defRPr sz="1300">
                <a:solidFill>
                  <a:srgbClr val="94A3B8"/>
                </a:solidFill>
              </a:defRPr>
            </a:pPr>
            <a:r>
              <a:t>Empowering 63+ Million unbanked rural micro-enterprises with dialect-first conversational AI, dynamic scheme optimization, and verifiable bank-ready DPR appraisal dossiers.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100% Offline PWA Ready  |  ✓ 10 Regional Dialects  |  ✓ UIDAI e-KYC Integrated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097280"/>
            <a:ext cx="4114800" cy="47548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28016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8FAFC"/>
                </a:solidFill>
              </a:defRPr>
            </a:pPr>
            <a:r>
              <a:t>📋 SIH Evaluation Registry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PROBLEM STATEMENT ID</a:t>
            </a:r>
          </a:p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26091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THEME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Agriculture, FoodTech &amp; Rural Development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PS CATEGORY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Software Edition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TEAM NAME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TEAM ALPHA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TARGET MINISTRY</a:t>
            </a:r>
          </a:p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Ministry of Social Justice &amp; Empowerment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ARCHITECTURE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Technical Approach &amp;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End-to-end pipeline: multilingual voice input → parallel AI &amp; deterministic engines → unified advisory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029968" cy="274320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11680"/>
            <a:ext cx="18105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38BDF8"/>
                </a:solidFill>
              </a:defRPr>
            </a:pPr>
            <a:r>
              <a:t>01 // INGESTION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🎙️ Voice Input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Web Speech API + Web Audio. 10 regional dialects (Marwari, Hindi, Gujarati) with &lt;100ms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920240"/>
            <a:ext cx="2029968" cy="274320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8376" y="2011680"/>
            <a:ext cx="18105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38BDF8"/>
                </a:solidFill>
              </a:defRPr>
            </a:pPr>
            <a:r>
              <a:t>02 // TELEMETRY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📍 Location Data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HTML5 GPS Geolocation with nearest-city clustering &amp; hyper-local Mandi wholesale price index.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920240"/>
            <a:ext cx="2029968" cy="274320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2011680"/>
            <a:ext cx="18105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38BDF8"/>
                </a:solidFill>
              </a:defRPr>
            </a:pPr>
            <a:r>
              <a:t>03 // GATEWAY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⚡ FastAPI Hub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High-concurrency async REST gateway. Idempotent offline ledger sync &amp; sub-15ms transaction routing.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2904" y="1920240"/>
            <a:ext cx="2029968" cy="274320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42632" y="2011680"/>
            <a:ext cx="18105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04 // INTELLIGENCE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⚖️ Scheme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Deterministic rule-engine evaluating PMEGP, NBCFDC, MUDRA. 0% AI hallucination on financial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00032" y="1920240"/>
            <a:ext cx="2029968" cy="274320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011680"/>
            <a:ext cx="18105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59E0B"/>
                </a:solidFill>
              </a:defRPr>
            </a:pPr>
            <a:r>
              <a:t>05 // APPRAISAL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📊 Repayment Planner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Alternative credit scoring (300–900), DSCR solvency check, and verifiable Bank Financial DPR dossier.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2029968" cy="1280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956048"/>
            <a:ext cx="18105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FRONTEND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HTML5 + Modern JS (Offline PWA)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8648" y="4892040"/>
            <a:ext cx="2029968" cy="1280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08376" y="4956048"/>
            <a:ext cx="18105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VOICE &amp; LOCATION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Web Speech API + Geolocation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5776" y="4892040"/>
            <a:ext cx="2029968" cy="1280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504" y="4956048"/>
            <a:ext cx="18105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BACKEND HUB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Python FastAPI (Async REST)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32904" y="4892040"/>
            <a:ext cx="2029968" cy="1280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2" y="4956048"/>
            <a:ext cx="18105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AI / LLM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Google Gemini 1.5 Flash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0032" y="4892040"/>
            <a:ext cx="2029968" cy="1280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4956048"/>
            <a:ext cx="18105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DATABASE &amp; AUTH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SQLite3 + Google GIS + UIDAI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OPERATIONAL &amp; ENGINEERING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Feasibility &amp; Strategic Risk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Engineered for real-world rural adoption: low-bandwidth, non-bureau underwriting, and zero AI hallucination.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56432" cy="20116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31272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01 // TECHNICAL FEASIBILITY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Standard web protocols &amp; lightweight REST APIs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Pre-seeded static reference tables for rapid deployment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Zero third-party runtime package overhead (&lt;50 KB payload)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920240"/>
            <a:ext cx="3456432" cy="20116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2011680"/>
            <a:ext cx="31272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02 // OPERATIONAL FEASIBILITY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Zero reliance on proprietary private bank APIs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Works on self-declared turnover &amp; seasonal cashflow spikes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Non-bureau credit scoring for unbanked micro-enterprises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920240"/>
            <a:ext cx="3456432" cy="20116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31272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03 // ZERO TRAINING COST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Voice-guided UI eliminates digital literacy barriers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Visual color-coded health badges (Green, Yellow, Red)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Native dialect prompts (Marwari, Gujarati, Hindi)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456432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87952"/>
            <a:ext cx="31272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43F5E"/>
                </a:solidFill>
              </a:defRPr>
            </a:pPr>
            <a:r>
              <a:t>⚠️ RISK 1: FINANCIAL HALLUCINATION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Mitigation: Decoupled architecture. LLM handles vernacular explanation; strict deterministic mathematical engine calculates EMI and interest rates.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✓ Outcome: Zero financial calculation errors (100% deterministic accuracy)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4114800"/>
            <a:ext cx="3456432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4187952"/>
            <a:ext cx="31272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📶 RISK 2: RURAL INTERNET FLUCTUATIONS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Mitigation: Progressive Web App (PWA) with client-side caching &amp; LocalStorage queues. Low-bandwidth JSON payload (&lt;50 KB).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✓ Outcome: Works seamlessly offline and on 2G / fluctuating networks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4114800"/>
            <a:ext cx="3456432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187952"/>
            <a:ext cx="31272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🤝 RISK 3: RESISTANCE TO DIGITAL ADOPTION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Mitigation: Hyper-local dialect support (Marwari, Marathi, Gujarati) + Common Service Centres (CSCs) and SHG facilitators.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✓ Outcome: Community-verified trust and rapid grassroots adoption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SOCIO-ECONOMIC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Impact &amp; Measurable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Reaching 63+ Million Rural Businesses: Empowering local artisans, small shopkeepers, and marginalized communities.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56432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312724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38BDF8"/>
                </a:solidFill>
              </a:defRPr>
            </a:pPr>
            <a:r>
              <a:t>30% – 50%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🔻 Cheaper Loans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Moves borrowers from expensive local moneylenders (36–120% APR) to affordable, safe institutional bank loans (6–11%).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920240"/>
            <a:ext cx="3456432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2011680"/>
            <a:ext cx="312724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10B981"/>
                </a:solidFill>
              </a:defRPr>
            </a:pPr>
            <a:r>
              <a:t>Up to 35%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🎁 Extra Savings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Automatically finds and applies free government grants and margin capital subsidies (PMEGP, NBCFDC) for the entrepreneur.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920240"/>
            <a:ext cx="3456432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312724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F59E0B"/>
                </a:solidFill>
              </a:defRPr>
            </a:pPr>
            <a:r>
              <a:t>63M+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👥 Lives Changed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Focused entirely on small village shops, rural artisans, tailors, street vendors, and women entrepreneurs across India.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3456432" cy="192024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389120"/>
            <a:ext cx="31272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📈 ECONOMIC GROWTH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Helps rural businesses track daily cashflow so they never miss a loan repayment, build a non-bureau credit profile, and stay debt-free.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4297680"/>
            <a:ext cx="3456432" cy="192024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4389120"/>
            <a:ext cx="31272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</a:defRPr>
            </a:pPr>
            <a:r>
              <a:t>🤝 SOCIAL EMPOWERMENT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Gives free, expert financial advice to everyone, with a special affirmative focus on uplifting women and marginalized groups (SC/ST/OBC).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4297680"/>
            <a:ext cx="3456432" cy="192024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389120"/>
            <a:ext cx="31272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</a:defRPr>
            </a:pPr>
            <a:r>
              <a:t>🏛️ BETTER GOVERNANCE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Helps the Government (MoSJE) ensure welfare schemes and Direct Benefit Transfers (DBT) actually reach the right people with zero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INNOVATION MOAT &amp; COMPETITIVE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Proposed Solution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An all-in-one voice-first platform empowering rural micro-entrepreneurs to discover schemes, assess credit, and structure loans in 10 regional languages.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371600"/>
                <a:gridCol w="1463040"/>
                <a:gridCol w="1371600"/>
                <a:gridCol w="1401775"/>
              </a:tblGrid>
              <a:tr h="39069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✨ Sahayak (Ours)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myScheme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JanSamarth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PMEGP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e-NAM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Voice-Based Assistance (Dialect-First)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✓ Complete (10 Dialects)</a:t>
                      </a:r>
                    </a:p>
                  </a:txBody>
                  <a:tcPr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✓ Basic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EMI &amp; Repayment Planning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✓ Automated</a:t>
                      </a:r>
                    </a:p>
                  </a:txBody>
                  <a:tcPr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– Static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Cash-Flow Based Assessment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✓ Daily Khata ML</a:t>
                      </a:r>
                    </a:p>
                  </a:txBody>
                  <a:tcPr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Post-Loan Monitoring &amp; Smart Ledger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✓ Real-time Ledger</a:t>
                      </a:r>
                    </a:p>
                  </a:txBody>
                  <a:tcPr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Hyper-Local Business Analysis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✓ GPS Geocoded</a:t>
                      </a:r>
                    </a:p>
                  </a:txBody>
                  <a:tcPr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Local Competitor Analysis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✓ Density Check</a:t>
                      </a:r>
                    </a:p>
                  </a:txBody>
                  <a:tcPr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Market / Price Intelligence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✓ Mandi Price Index</a:t>
                      </a:r>
                    </a:p>
                  </a:txBody>
                  <a:tcPr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✓ Agri only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Financial Structuring &amp; Bank DPR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✓ Full DPR Dossier</a:t>
                      </a:r>
                    </a:p>
                  </a:txBody>
                  <a:tcPr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– Generic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– Form only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Scheme Matching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✓ Max-Benefit Ranked</a:t>
                      </a:r>
                    </a:p>
                  </a:txBody>
                  <a:tcPr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✓ Static list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✓ Basic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– Single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Business Viability Recommendation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✓ Algorithmic</a:t>
                      </a:r>
                    </a:p>
                  </a:txBody>
                  <a:tcPr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EVIDENCE &amp;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&amp; Institutional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Grounded in central monetary policy reports, academic multilingual NLP frameworks, and statutory government guidelines.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56432" cy="42976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31272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</a:defRPr>
            </a:pPr>
            <a:r>
              <a:t>🏛️ POLICY &amp; INSTITUTIONAL RESEARCH</a:t>
            </a:r>
          </a:p>
          <a:p>
            <a:pPr>
              <a:spcAft>
                <a:spcPts val="200"/>
              </a:spcAft>
              <a:defRPr sz="1050" b="1">
                <a:solidFill>
                  <a:srgbClr val="F8FAFC"/>
                </a:solidFill>
              </a:defRPr>
            </a:pPr>
            <a:r>
              <a:t>RBI — UK Sinha Committee Report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Empirical documentation of the ₹14 Lakh Crore structural MSME credit deficit in India.</a:t>
            </a:r>
          </a:p>
          <a:p>
            <a:pPr>
              <a:spcAft>
                <a:spcPts val="200"/>
              </a:spcAft>
              <a:defRPr sz="1050" b="1">
                <a:solidFill>
                  <a:srgbClr val="F8FAFC"/>
                </a:solidFill>
              </a:defRPr>
            </a:pPr>
            <a:r>
              <a:t>World Bank Global Findex Database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Analysis on informal credit traps, unbanked micro-merchants, and debt traps in South Asia.</a:t>
            </a:r>
          </a:p>
          <a:p>
            <a:pPr>
              <a:spcAft>
                <a:spcPts val="200"/>
              </a:spcAft>
              <a:defRPr sz="1050" b="1">
                <a:solidFill>
                  <a:srgbClr val="F8FAFC"/>
                </a:solidFill>
              </a:defRPr>
            </a:pPr>
            <a:r>
              <a:t>MoMSME Annual Report 2023–24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Statutory operational guidelines for PMEGP capital subsidies and MUDRA credit guarantee mechanisms.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920240"/>
            <a:ext cx="3456432" cy="42976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2011680"/>
            <a:ext cx="31272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</a:defRPr>
            </a:pPr>
            <a:r>
              <a:t>🔬 INDUSTRY &amp; ACADEMIC REFERENCES</a:t>
            </a:r>
          </a:p>
          <a:p>
            <a:pPr>
              <a:spcAft>
                <a:spcPts val="200"/>
              </a:spcAft>
              <a:defRPr sz="1050" b="1">
                <a:solidFill>
                  <a:srgbClr val="F8FAFC"/>
                </a:solidFill>
              </a:defRPr>
            </a:pPr>
            <a:r>
              <a:t>Journal of Money &amp; Business Studies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Peer-reviewed impact evaluations: Vernacular Financial Literacy and Credit Repayment Discipline.</a:t>
            </a:r>
          </a:p>
          <a:p>
            <a:pPr>
              <a:spcAft>
                <a:spcPts val="200"/>
              </a:spcAft>
              <a:defRPr sz="1050" b="1">
                <a:solidFill>
                  <a:srgbClr val="F8FAFC"/>
                </a:solidFill>
              </a:defRPr>
            </a:pPr>
            <a:r>
              <a:t>AI4Bharat &amp; Microsoft Research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Jugalbandi multilingual conversational AI architecture for Indian citizen welfare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920240"/>
            <a:ext cx="3456432" cy="42976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31272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🌐 OFFICIAL PORTALS &amp; OPEN SOURCE</a:t>
            </a:r>
          </a:p>
          <a:p>
            <a:pPr>
              <a:spcAft>
                <a:spcPts val="200"/>
              </a:spcAft>
              <a:defRPr sz="1050" b="1">
                <a:solidFill>
                  <a:srgbClr val="F8FAFC"/>
                </a:solidFill>
              </a:defRPr>
            </a:pPr>
            <a:r>
              <a:t>Statutory Scheme Portals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• udyamregistration.gov.in</a:t>
            </a:r>
            <a:br/>
            <a:r>
              <a:t>• jansamarth.in</a:t>
            </a:r>
            <a:br/>
            <a:r>
              <a:t>• myscheme.gov.in</a:t>
            </a:r>
          </a:p>
          <a:p>
            <a:pPr>
              <a:spcAft>
                <a:spcPts val="200"/>
              </a:spcAft>
              <a:defRPr sz="1050" b="1">
                <a:solidFill>
                  <a:srgbClr val="F8FAFC"/>
                </a:solidFill>
              </a:defRPr>
            </a:pPr>
            <a:r>
              <a:t>Production Open-Source Stack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• Python FastAPI · High-Performance REST</a:t>
            </a:r>
            <a:br/>
            <a:r>
              <a:t>• React 18 / HTML5 PWA</a:t>
            </a:r>
            <a:br/>
            <a:r>
              <a:t>• Google Gemini 1.5 Flash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